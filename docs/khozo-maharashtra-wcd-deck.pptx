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95160" y="0"/>
            <a:ext cx="5196535" cy="6858000"/>
          </a:xfrm>
          <a:prstGeom prst="rect">
            <a:avLst/>
          </a:prstGeom>
          <a:solidFill>
            <a:srgbClr val="1C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inister-wcd-maharasht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687" y="1737360"/>
            <a:ext cx="2697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69480" y="4654296"/>
            <a:ext cx="46634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Hon'ble Smt. Aditi Sunil Tatkare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4983479"/>
            <a:ext cx="466344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0">
                <a:solidFill>
                  <a:srgbClr val="DAEBD2"/>
                </a:solidFill>
                <a:latin typeface="Aptos"/>
              </a:rPr>
              <a:t>Cabinet Minister, Department of Women and Child Development
Government of Maharashtra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0040"/>
            <a:ext cx="402336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384048"/>
            <a:ext cx="219456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E8019"/>
                </a:solidFill>
                <a:latin typeface="Aptos"/>
              </a:rPr>
              <a:t>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93192"/>
            <a:ext cx="10058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KHOZO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43584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50" b="1">
                <a:solidFill>
                  <a:srgbClr val="EAF4DD"/>
                </a:solidFill>
                <a:latin typeface="Aptos"/>
              </a:rPr>
              <a:t>Proposal Deck | Child Protection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91640"/>
            <a:ext cx="612648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Project Khozo for the Department of Women and Child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10128"/>
            <a:ext cx="580644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0">
                <a:solidFill>
                  <a:srgbClr val="EBF5E6"/>
                </a:solidFill>
                <a:latin typeface="Aptos"/>
              </a:rPr>
              <a:t>A Mission Vatsalya-aligned platform to trace, verify, protect and restore missing children — connecting citizens, NGOs, Police, CWC, DCPU, CCIs and JJBs in one accountable, privacy-safe workflow.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526280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Government of Maharashtra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870448"/>
            <a:ext cx="5760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DAEBD2"/>
                </a:solidFill>
                <a:latin typeface="Aptos"/>
              </a:rPr>
              <a:t>An initiative by Aegis School of Data Science &amp; AI, Mumbai — AI for Social Good
Submitted for the kind consideration of Hon'ble Smt. Aditi Sunil Tatkare, Cabinet Minister, Department of Women and Child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The Problem We Are Trying to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48640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1C2530"/>
                </a:solidFill>
                <a:latin typeface="Aptos"/>
              </a:rPr>
              <a:t>The gap is rarely goodwill. It is the time and traceability between a child going missing, a citizen spotting that child, and the right officer or Committee being able to act on it.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560320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487168"/>
            <a:ext cx="528523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>
                <a:solidFill>
                  <a:srgbClr val="1C2530"/>
                </a:solidFill>
                <a:latin typeface="Aptos"/>
              </a:rPr>
              <a:t>A citizen who spots a child often has no safe, structured way to report it.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035808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962656"/>
            <a:ext cx="528523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>
                <a:solidFill>
                  <a:srgbClr val="1C2530"/>
                </a:solidFill>
                <a:latin typeface="Aptos"/>
              </a:rPr>
              <a:t>Sightings and case records sit in separate registers, files and departments.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11296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438144"/>
            <a:ext cx="528523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>
                <a:solidFill>
                  <a:srgbClr val="1C2530"/>
                </a:solidFill>
                <a:latin typeface="Aptos"/>
              </a:rPr>
              <a:t>Welfare follow-up after recovery — CWC production, CCI care, restoration — is tracked manually.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986784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913632"/>
            <a:ext cx="528523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>
                <a:solidFill>
                  <a:srgbClr val="1C2530"/>
                </a:solidFill>
                <a:latin typeface="Aptos"/>
              </a:rPr>
              <a:t>Families have no reliable way to check progress without visiting an office.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462272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389120"/>
            <a:ext cx="528523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>
                <a:solidFill>
                  <a:srgbClr val="1C2530"/>
                </a:solidFill>
                <a:latin typeface="Aptos"/>
              </a:rPr>
              <a:t>Child identity and photographs need protection at every step of this chain.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1417320"/>
            <a:ext cx="43434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20840" y="1417320"/>
            <a:ext cx="73152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1563624"/>
            <a:ext cx="3931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The consequence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920240"/>
            <a:ext cx="393192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566373"/>
                </a:solidFill>
                <a:latin typeface="Aptos"/>
              </a:rPr>
              <a:t>Delay in the first hours, and loss of a single verified trail from sighting to restoration that the Department can supervise.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3017520"/>
            <a:ext cx="4343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3017520"/>
            <a:ext cx="73152" cy="137160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163824"/>
            <a:ext cx="3931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What is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20439"/>
            <a:ext cx="39319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566373"/>
                </a:solidFill>
                <a:latin typeface="Aptos"/>
              </a:rPr>
              <a:t>Not a replacement for Mission Vatsalya, but a fast intake and coordination layer that feeds it and is answerable to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4572000"/>
            <a:ext cx="43434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0840" y="457200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718304"/>
            <a:ext cx="3931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State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074920"/>
            <a:ext cx="39319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[Insert current Maharashtra missing-children figures from NCRB / State Crime Records Bureau before presentation.]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71600"/>
            <a:ext cx="54864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1C2530"/>
                </a:solidFill>
                <a:latin typeface="Aptos"/>
              </a:rPr>
              <a:t>Khozo is a working platform that turns a citizen's photograph into an accountable, jurisdiction-routed child-protection action.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450592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377440"/>
            <a:ext cx="528523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>
                <a:solidFill>
                  <a:srgbClr val="1C2530"/>
                </a:solidFill>
                <a:latin typeface="Aptos"/>
              </a:rPr>
              <a:t>Citizens, parents and NGOs report a missing child or a sighting from a phone.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926080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852928"/>
            <a:ext cx="528523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>
                <a:solidFill>
                  <a:srgbClr val="1C2530"/>
                </a:solidFill>
                <a:latin typeface="Aptos"/>
              </a:rPr>
              <a:t>Reports are verified by a scoped official before becoming a formal case.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401568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328416"/>
            <a:ext cx="528523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>
                <a:solidFill>
                  <a:srgbClr val="1C2530"/>
                </a:solidFill>
                <a:latin typeface="Aptos"/>
              </a:rPr>
              <a:t>Sightings are ranked and routed to the correct district desk automatically.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877056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803904"/>
            <a:ext cx="528523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>
                <a:solidFill>
                  <a:srgbClr val="1C2530"/>
                </a:solidFill>
                <a:latin typeface="Aptos"/>
              </a:rPr>
              <a:t>Unmatched sightings escalate to Childline 1098 / CWC rather than being lost.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352544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279392"/>
            <a:ext cx="528523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0">
                <a:solidFill>
                  <a:srgbClr val="1C2530"/>
                </a:solidFill>
                <a:latin typeface="Aptos"/>
              </a:rPr>
              <a:t>Welfare, restoration and closure are tracked to a supervised outcome.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1417320"/>
            <a:ext cx="43434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20840" y="141732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1563624"/>
            <a:ext cx="3931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Built for this Department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920240"/>
            <a:ext cx="393192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566373"/>
                </a:solidFill>
                <a:latin typeface="Aptos"/>
              </a:rPr>
              <a:t>Native roles for CWC, DCPU, SJPU, AHTU, CCI, JJB, DLSA, SARA, SAA and the State Nodal Officer — not a police tool with welfare bolted 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3200400"/>
            <a:ext cx="43434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3200400"/>
            <a:ext cx="73152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346704"/>
            <a:ext cx="3931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Complements, not duplicates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703320"/>
            <a:ext cx="39319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566373"/>
                </a:solidFill>
                <a:latin typeface="Aptos"/>
              </a:rPr>
              <a:t>Cases carry TrackChild, KhoyaPaya, CCTNS/FIR, NCRB and GHAR identifiers so existing Government systems stay authoritative.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4846320"/>
            <a:ext cx="43434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0840" y="4846320"/>
            <a:ext cx="73152" cy="96012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992624"/>
            <a:ext cx="3931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Core promise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349240"/>
            <a:ext cx="39319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66373"/>
                </a:solidFill>
                <a:latin typeface="Aptos"/>
              </a:rPr>
              <a:t>"Your 1 click — a missing child can return home."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DESIGN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Grounded in the Government's Own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35024"/>
            <a:ext cx="10424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Khozo's workflows, roles and records were designed after a structured study of the Government's existing child-protection systems and statutes.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29184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3291840" cy="54864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20824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Mission Vatsalya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95144"/>
            <a:ext cx="3017520" cy="1161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Stakeholder structure, grievance and feedback routing, and welfare service categories follow the scheme's operating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74519"/>
            <a:ext cx="329184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74519"/>
            <a:ext cx="3291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020824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TrackChild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295144"/>
            <a:ext cx="3017520" cy="1161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Case registers, matching, district search, MIS reporting and identity linkage 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0416" y="1874519"/>
            <a:ext cx="329184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0416" y="1874519"/>
            <a:ext cx="329184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020824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KhoyaPaya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95144"/>
            <a:ext cx="3017520" cy="1161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Citizen-facing missing/found reporting that feeds institutional review instead of exposing child identity publicly.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329184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749039"/>
            <a:ext cx="32918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895344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GHAR (NCPCR)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169663"/>
            <a:ext cx="3017520" cy="1161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Restoration and repatriation tracking, institutional handover, transfer and support needs.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3749039"/>
            <a:ext cx="329184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15968" y="3749039"/>
            <a:ext cx="3291840" cy="54864"/>
          </a:xfrm>
          <a:prstGeom prst="rect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3895344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CARINGS / CARA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4169663"/>
            <a:ext cx="3017520" cy="1161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Adoption governance separating SARA and SAA responsibilities and legally-free declarations.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0416" y="3749039"/>
            <a:ext cx="329184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0416" y="3749039"/>
            <a:ext cx="3291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895344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JJ Act, 2015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169663"/>
            <a:ext cx="3017520" cy="1161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Production before CWC/JJB within statutory timelines, Social Investigation Reports and Individual Care Plans.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42432"/>
            <a:ext cx="10424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4E8019"/>
                </a:solidFill>
                <a:latin typeface="Aptos"/>
              </a:rPr>
              <a:t>Khozo is positioned as an intake and coordination layer that strengthens these systems — it does not seek to replace any of them.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docs/system-audit.md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HOW A CASE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The Khozo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2084831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56362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" y="1613916"/>
            <a:ext cx="164592" cy="1188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1554480"/>
            <a:ext cx="1426463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1">
                <a:solidFill>
                  <a:srgbClr val="1C2530"/>
                </a:solidFill>
                <a:latin typeface="Aptos"/>
              </a:rPr>
              <a:t>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984248"/>
            <a:ext cx="1792223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80" b="0">
                <a:solidFill>
                  <a:srgbClr val="566373"/>
                </a:solidFill>
                <a:latin typeface="Aptos"/>
              </a:rPr>
              <a:t>Parent, citizen or NGO reports a missing child or uploads a sighting photograph, with consent recorded.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194767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67A426"/>
                </a:solidFill>
                <a:latin typeface="Apto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80944" y="1417320"/>
            <a:ext cx="2084831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1563624"/>
            <a:ext cx="310896" cy="310896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95827" y="1613916"/>
            <a:ext cx="164592" cy="1188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1554480"/>
            <a:ext cx="1426463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1">
                <a:solidFill>
                  <a:srgbClr val="1C2530"/>
                </a:solidFill>
                <a:latin typeface="Aptos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1984248"/>
            <a:ext cx="1792223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80" b="0">
                <a:solidFill>
                  <a:srgbClr val="566373"/>
                </a:solidFill>
                <a:latin typeface="Aptos"/>
              </a:rPr>
              <a:t>A scoped police / CWC / DCPU officer verifies the intake before it becomes a formal case with an FIR or GD number.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3" y="194767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67A426"/>
                </a:solidFill>
                <a:latin typeface="Apto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1417320"/>
            <a:ext cx="2084831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49824" y="1563624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8404" y="1613916"/>
            <a:ext cx="164592" cy="1188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554480"/>
            <a:ext cx="1426463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1">
                <a:solidFill>
                  <a:srgbClr val="1C2530"/>
                </a:solidFill>
                <a:latin typeface="Aptos"/>
              </a:rPr>
              <a:t>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8112" y="1984248"/>
            <a:ext cx="1792223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80" b="0">
                <a:solidFill>
                  <a:srgbClr val="566373"/>
                </a:solidFill>
                <a:latin typeface="Aptos"/>
              </a:rPr>
              <a:t>The sighting is ranked against registered cases and routed to the correct district desk.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94767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67A426"/>
                </a:solidFill>
                <a:latin typeface="Aptos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26096" y="1417320"/>
            <a:ext cx="2084831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0" y="1563624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0979" y="1613916"/>
            <a:ext cx="164592" cy="1188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1554480"/>
            <a:ext cx="1426463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1">
                <a:solidFill>
                  <a:srgbClr val="1C2530"/>
                </a:solidFill>
                <a:latin typeface="Aptos"/>
              </a:rPr>
              <a:t>Refer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1984248"/>
            <a:ext cx="1792223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80" b="0">
                <a:solidFill>
                  <a:srgbClr val="566373"/>
                </a:solidFill>
                <a:latin typeface="Aptos"/>
              </a:rPr>
              <a:t>Unmatched or at-risk sightings escalate to Childline 1098, CWC or DCPU rather than closing silently.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9215" y="194767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67A426"/>
                </a:solidFill>
                <a:latin typeface="Aptos"/>
              </a:rP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48672" y="1417320"/>
            <a:ext cx="2084831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4976" y="1563624"/>
            <a:ext cx="310896" cy="310896"/>
          </a:xfrm>
          <a:prstGeom prst="ellipse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63556" y="1613916"/>
            <a:ext cx="164592" cy="1188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79024" y="1554480"/>
            <a:ext cx="1426463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80" b="1">
                <a:solidFill>
                  <a:srgbClr val="1C2530"/>
                </a:solidFill>
                <a:latin typeface="Aptos"/>
              </a:rPr>
              <a:t>Restore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13264" y="1984248"/>
            <a:ext cx="1792223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80" b="0">
                <a:solidFill>
                  <a:srgbClr val="566373"/>
                </a:solidFill>
                <a:latin typeface="Aptos"/>
              </a:rPr>
              <a:t>Production, care, welfare referral and restoration are tracked to a formal, recorded closure.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246120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3246120"/>
            <a:ext cx="73152" cy="1298448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339242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Nothing is lost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3749039"/>
            <a:ext cx="2990088" cy="70408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Every intake either becomes a case, a referral or a recorded disposition. There is no silent dead end.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07408" y="3246120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07408" y="3246120"/>
            <a:ext cx="73152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6008" y="339242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Nothing is unowned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6008" y="3749039"/>
            <a:ext cx="2990088" cy="70408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Cases carry a jurisdiction, an assigned desk and a transfer history when investigation moves.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83296" y="3246120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83296" y="3246120"/>
            <a:ext cx="73152" cy="12984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11896" y="339242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Nothing is untraceable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1896" y="3749039"/>
            <a:ext cx="2990088" cy="70408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Every action writes a tamper-evident audit event that the Department can later verify.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86460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50" b="1">
                <a:solidFill>
                  <a:srgbClr val="1C2530"/>
                </a:solidFill>
                <a:latin typeface="Aptos"/>
              </a:rPr>
              <a:t>Citizens can check a receipt or FIR reference at any time and see safe progress — without any child's identity, photograph, address or guardian contact being exposed.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docs/system-audit.md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STAKEHOLDER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The Child-Protection Ecosystem, Built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16736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Each role below is implemented with its own scoped dashboard, permissions, jurisdiction and audit trail.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73936"/>
            <a:ext cx="24871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73936"/>
            <a:ext cx="2487168" cy="54864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20240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CWC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194560"/>
            <a:ext cx="221284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Child Welfare Committee — production, orders, care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773936"/>
            <a:ext cx="24871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773936"/>
            <a:ext cx="2487168" cy="54864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1920240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DCPU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194560"/>
            <a:ext cx="221284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District Child Protection Unit — district coordination and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773936"/>
            <a:ext cx="24871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773936"/>
            <a:ext cx="2487168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1920240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CCI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194560"/>
            <a:ext cx="221284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Child Care Institution — admission, care plan and service register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773936"/>
            <a:ext cx="24871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773936"/>
            <a:ext cx="2487168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0264" y="1920240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JJB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0264" y="2194560"/>
            <a:ext cx="221284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Juvenile Justice Board — proceedings, hearings and directions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191256"/>
            <a:ext cx="24871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191256"/>
            <a:ext cx="24871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337560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SJPU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611880"/>
            <a:ext cx="221284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Special Juvenile Police Unit — child-sensitive policing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3191256"/>
            <a:ext cx="24871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91256"/>
            <a:ext cx="24871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75304" y="3337560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AHTU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5304" y="3611880"/>
            <a:ext cx="221284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Anti Human Trafficking Unit — trafficking-risk cases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191256"/>
            <a:ext cx="24871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3191256"/>
            <a:ext cx="2487168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2784" y="3337560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DLSA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2784" y="3611880"/>
            <a:ext cx="221284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District Legal Services Authority — legal aid and compensation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3191256"/>
            <a:ext cx="24871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23960" y="3191256"/>
            <a:ext cx="2487168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70264" y="3337560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SARA / SAA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0264" y="3611880"/>
            <a:ext cx="221284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Adoption governance and CARINGS-aligned records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608576"/>
            <a:ext cx="24871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4608576"/>
            <a:ext cx="2487168" cy="54864"/>
          </a:xfrm>
          <a:prstGeom prst="rect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754880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RPF / Railways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" y="5029200"/>
            <a:ext cx="221284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Railway and station-based rescue coordination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29000" y="4608576"/>
            <a:ext cx="24871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29000" y="4608576"/>
            <a:ext cx="2487168" cy="54864"/>
          </a:xfrm>
          <a:prstGeom prst="rect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75304" y="4754880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DCRB / SCRB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75304" y="5029200"/>
            <a:ext cx="221284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District and State Crime Records Bureau reporting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26480" y="4608576"/>
            <a:ext cx="24871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80" y="4608576"/>
            <a:ext cx="2487168" cy="54864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72784" y="4754880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State Nodal Officer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72784" y="5029200"/>
            <a:ext cx="221284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State-level escalation, oversight and MIS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23960" y="4608576"/>
            <a:ext cx="24871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23960" y="4608576"/>
            <a:ext cx="24871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70264" y="4754880"/>
            <a:ext cx="22128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Citizens / NGOs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70264" y="5029200"/>
            <a:ext cx="2212848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Verified public reporting and sighting participation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6053328"/>
            <a:ext cx="10424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50" b="0">
                <a:solidFill>
                  <a:srgbClr val="566373"/>
                </a:solidFill>
                <a:latin typeface="Aptos"/>
              </a:rPr>
              <a:t>Reunification confirmation remains restricted to Police / SJPU and command roles. Welfare roles hold welfare powers — authority is never blurred.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docs/system-audit.md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JUVENILE JUSTICE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Statutory Compliance as a Product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35024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Compliance obligations the Department already carries are tracked, with due dates and overdue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10512"/>
            <a:ext cx="329184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10512"/>
            <a:ext cx="3291840" cy="54864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56816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24-hour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31136"/>
            <a:ext cx="3017520" cy="12161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Rescue time, production time, authority, order number and outcome are recorded, with the statutory deadline computed and breaches flagged.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10512"/>
            <a:ext cx="329184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10512"/>
            <a:ext cx="3291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956816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SIR and ICP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231136"/>
            <a:ext cx="3017520" cy="12161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Social Investigation Reports and Individual Care Plans are structured records with assessor, risk level and review 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0416" y="1810512"/>
            <a:ext cx="329184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0416" y="1810512"/>
            <a:ext cx="32918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956816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CCI care register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31136"/>
            <a:ext cx="3017520" cy="12161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Admission type, institution, care plan, service categories and next review date, with a district-level institutional register.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30752"/>
            <a:ext cx="329184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730752"/>
            <a:ext cx="329184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877056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JJB proceedings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151376"/>
            <a:ext cx="3017520" cy="12161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Proceeding type, board, case number, order date, next hearing and directions.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3730752"/>
            <a:ext cx="329184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15968" y="3730752"/>
            <a:ext cx="3291840" cy="54864"/>
          </a:xfrm>
          <a:prstGeom prst="rect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3877056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Restoration and repatriation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4151376"/>
            <a:ext cx="3017520" cy="12161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Route, handover authority, escort, documents, funding and follow-up — tracked through to closure.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0416" y="3730752"/>
            <a:ext cx="329184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0416" y="3730752"/>
            <a:ext cx="3291840" cy="54864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877056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"/>
              </a:rPr>
              <a:t>Formal closure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151376"/>
            <a:ext cx="3017520" cy="12161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40" b="0">
                <a:solidFill>
                  <a:srgbClr val="566373"/>
                </a:solidFill>
                <a:latin typeface="Aptos"/>
              </a:rPr>
              <a:t>Restored to family, CCI transfer, adoption or aftercare, repatriation, or traced pending reunification.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42432"/>
            <a:ext cx="104241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4E8019"/>
                </a:solidFill>
                <a:latin typeface="Aptos"/>
              </a:rPr>
              <a:t>A follow-up queue surfaces overdue production, due reviews and stale cases so supervision is proactive rather than retrospective.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docs/system-audit.md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Child Privacy Is a Design Constraint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5321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1C2530"/>
                </a:solidFill>
                <a:latin typeface="Aptos"/>
              </a:rPr>
              <a:t>A missing-child platform handles the most sensitive data the State holds. Khozo was built so that openness to citizens never becomes exposure of a child.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468880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395728"/>
            <a:ext cx="533095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40" b="0">
                <a:solidFill>
                  <a:srgbClr val="1C2530"/>
                </a:solidFill>
                <a:latin typeface="Aptos"/>
              </a:rPr>
              <a:t>Public screens redact guardian contacts, Aadhaar, exact addresses and photographs.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926080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852928"/>
            <a:ext cx="533095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40" b="0">
                <a:solidFill>
                  <a:srgbClr val="1C2530"/>
                </a:solidFill>
                <a:latin typeface="Aptos"/>
              </a:rPr>
              <a:t>Photographs require recorded consent, stated purpose and a retention period.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383280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310128"/>
            <a:ext cx="533095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40" b="0">
                <a:solidFill>
                  <a:srgbClr val="1C2530"/>
                </a:solidFill>
                <a:latin typeface="Aptos"/>
              </a:rPr>
              <a:t>Photograph access is authenticated and jurisdiction-checked — never a public URL.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840480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767328"/>
            <a:ext cx="533095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40" b="0">
                <a:solidFill>
                  <a:srgbClr val="1C2530"/>
                </a:solidFill>
                <a:latin typeface="Aptos"/>
              </a:rPr>
              <a:t>Citizens may mark their identity confidential; review queues show masked details.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297680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224528"/>
            <a:ext cx="533095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40" b="0">
                <a:solidFill>
                  <a:srgbClr val="1C2530"/>
                </a:solidFill>
                <a:latin typeface="Aptos"/>
              </a:rPr>
              <a:t>A privacy review queue governs retention, extension and anonymisation.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754880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681728"/>
            <a:ext cx="533095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40" b="0">
                <a:solidFill>
                  <a:srgbClr val="1C2530"/>
                </a:solidFill>
                <a:latin typeface="Aptos"/>
              </a:rPr>
              <a:t>Anonymisation requires an approval or order reference and is fully audited.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444752"/>
            <a:ext cx="4297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1444752"/>
            <a:ext cx="73152" cy="137160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1591056"/>
            <a:ext cx="38862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Audit metadata is redacted too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1947672"/>
            <a:ext cx="38862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Audit events store flags, counts and text lengths — not names, phone numbers, ID numbers or note contents.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2999232"/>
            <a:ext cx="4297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2999232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3145536"/>
            <a:ext cx="38862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Tamper-evident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502152"/>
            <a:ext cx="38862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Audit events form a hash chain. Exports carry a SHA-256 digest and HMAC signature that can be verified after download.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4553712"/>
            <a:ext cx="4297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4553712"/>
            <a:ext cx="73152" cy="1325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4700016"/>
            <a:ext cx="38862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Abuse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5056632"/>
            <a:ext cx="3886200" cy="73151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Public intake is rate-limited, OTP-verified, and abuse signals feed a command review queue with hashed identities.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docs/system-audit.md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COMMAND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Oversight and MIS for the Department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015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46304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1790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State command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299008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Statewide caseload, reunification, pending intake, district breakdown and workflow activity for the Minister's office and State Nodal Officer.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371600"/>
            <a:ext cx="34015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371600"/>
            <a:ext cx="73152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51790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District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874519"/>
            <a:ext cx="299008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DCPU and district desks see only their jurisdiction — cases, sightings, grievances, reviews and coverage gaps.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71600"/>
            <a:ext cx="34015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371600"/>
            <a:ext cx="73152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51790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Signed MIS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874519"/>
            <a:ext cx="299008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A scoped MIS artifact with a verifiable signature, generated on demand and audited each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108960"/>
            <a:ext cx="2423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3227832"/>
            <a:ext cx="21488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>
                <a:solidFill>
                  <a:srgbClr val="566373"/>
                </a:solidFill>
                <a:latin typeface="Aptos"/>
              </a:rP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474720"/>
            <a:ext cx="214884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67A426"/>
                </a:solidFill>
                <a:latin typeface="Aptos"/>
              </a:rPr>
              <a:t>Gap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3858768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missing district desks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3108960"/>
            <a:ext cx="2423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3227832"/>
            <a:ext cx="21488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>
                <a:solidFill>
                  <a:srgbClr val="566373"/>
                </a:solidFill>
                <a:latin typeface="Aptos"/>
              </a:rPr>
              <a:t>SUPERVISION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0752" y="3474720"/>
            <a:ext cx="214884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"/>
              </a:rPr>
              <a:t>Follow-up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3858768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overdue and stale 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108960"/>
            <a:ext cx="2423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3227832"/>
            <a:ext cx="21488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>
                <a:solidFill>
                  <a:srgbClr val="566373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3474720"/>
            <a:ext cx="214884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Signed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3858768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audit and MIS artifacts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3108960"/>
            <a:ext cx="2423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25712" y="3227832"/>
            <a:ext cx="21488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>
                <a:solidFill>
                  <a:srgbClr val="566373"/>
                </a:solidFill>
                <a:latin typeface="Aptos"/>
              </a:rPr>
              <a:t>COORDINATION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3474720"/>
            <a:ext cx="214884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Aptos"/>
              </a:rPr>
              <a:t>Network 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3858768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scoped desk messaging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526280"/>
            <a:ext cx="105156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50" b="1">
                <a:solidFill>
                  <a:srgbClr val="1C2530"/>
                </a:solidFill>
                <a:latin typeface="Aptos"/>
              </a:rPr>
              <a:t>The coverage report tells the Department which district desks — CWC, DCPU, SJPU, CCI, JJB, RPF — are not yet onboarded in a State or district, so gaps are visible before a pilot begins rather than after it fails.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docs/system-audit.md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PUBLIC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Citizen Participation, Safely Channelled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01568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60020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1790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Emergency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2990088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Citizens are routed by context to Childline 1098, ERSS 112 or Railway 139, paired with the correct local SJPU, CWC, DCPU or RPF desk.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371600"/>
            <a:ext cx="3401568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37160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51790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Public service directory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874519"/>
            <a:ext cx="2990088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A redacted directory of local child-protection response points — without exposing official accounts or internal user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71600"/>
            <a:ext cx="3401568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371600"/>
            <a:ext cx="73152" cy="160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51790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Privacy-safe bulletins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874519"/>
            <a:ext cx="2990088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Authorised officers publish missing-child alerts with guardian contacts, Aadhaar, addresses and protected photographs redacted.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46120"/>
            <a:ext cx="3401568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246120"/>
            <a:ext cx="73152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39242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Grievance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49039"/>
            <a:ext cx="2990088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A Mission Vatsalya-style grievance and feedback route with a reference number and safe public status tracking.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3246120"/>
            <a:ext cx="3401568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7408" y="3246120"/>
            <a:ext cx="73152" cy="1600200"/>
          </a:xfrm>
          <a:prstGeom prst="rect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339242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Status without exposure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3749039"/>
            <a:ext cx="2990088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Families check a receipt, FIR or TrackChild reference and see progress — never another child's identity.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3246120"/>
            <a:ext cx="3401568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3296" y="3246120"/>
            <a:ext cx="73152" cy="160020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1896" y="339242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Works in weak 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3749039"/>
            <a:ext cx="2990088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Field reports queue in encrypted on-device storage and sync when connectivity returns — important for tribal and rural blocks.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138928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1C2530"/>
                </a:solidFill>
                <a:latin typeface="Aptos"/>
              </a:rPr>
              <a:t>Public registration is OTP-verified and privileged roles cannot be self-assigned — official accounts are provisioned only by authorised command users.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docs/system-audit.md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DATA SOVEREIGNTY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Face Recognition Under Indian Sovereignty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35024"/>
            <a:ext cx="562356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1C2530"/>
                </a:solidFill>
                <a:latin typeface="Aptos"/>
              </a:rPr>
              <a:t>Khozo proposes Sovereign AI Aarakshak for production face recognition, so children's biometric data stays under Indian infrastructure and governance.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468880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395728"/>
            <a:ext cx="542239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60" b="0">
                <a:solidFill>
                  <a:srgbClr val="1C2530"/>
                </a:solidFill>
                <a:latin typeface="Aptos"/>
              </a:rPr>
              <a:t>Indian child-protection data should remain in India, under Indian institutions.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953512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880360"/>
            <a:ext cx="542239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60" b="0">
                <a:solidFill>
                  <a:srgbClr val="1C2530"/>
                </a:solidFill>
                <a:latin typeface="Aptos"/>
              </a:rPr>
              <a:t>No sharing of children's facial-recognition data with foreign companies.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438144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364992"/>
            <a:ext cx="542239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60" b="0">
                <a:solidFill>
                  <a:srgbClr val="1C2530"/>
                </a:solidFill>
                <a:latin typeface="Aptos"/>
              </a:rPr>
              <a:t>Matching is isolated behind a single service boundary in the codebase.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922776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849624"/>
            <a:ext cx="542239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60" b="0">
                <a:solidFill>
                  <a:srgbClr val="1C2530"/>
                </a:solidFill>
                <a:latin typeface="Aptos"/>
              </a:rPr>
              <a:t>A human officer always reviews and confirms a match — the system never decides alone.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407408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334256"/>
            <a:ext cx="542239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60" b="0">
                <a:solidFill>
                  <a:srgbClr val="1C2530"/>
                </a:solidFill>
                <a:latin typeface="Aptos"/>
              </a:rPr>
              <a:t>Every match decision is recorded as signed, audit-ready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1463040"/>
            <a:ext cx="4251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463040"/>
            <a:ext cx="73152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609344"/>
            <a:ext cx="38404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Honest position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965960"/>
            <a:ext cx="384048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566373"/>
                </a:solidFill>
                <a:latin typeface="Aptos"/>
              </a:rPr>
              <a:t>Face matching runs on Aarakshak, an Indian provider, with AWS Rekognition (Mumbai region) as an independent second opinion. A candidate is shown to an officer only where both engines agree; anything uncorroborated is withheld, not shown with a lower number.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3063240"/>
            <a:ext cx="42519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12280" y="306324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209544"/>
            <a:ext cx="38404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Integration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566160"/>
            <a:ext cx="384048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Matching lives behind one module, so an authorised provider replaces the demo scorer without changing intake, dashboards or safeguards.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4617720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12280" y="4617720"/>
            <a:ext cx="73152" cy="123444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4764024"/>
            <a:ext cx="38404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50" b="1">
                <a:solidFill>
                  <a:srgbClr val="1C2530"/>
                </a:solidFill>
                <a:latin typeface="Aptos"/>
              </a:rPr>
              <a:t>Departmental assurance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120640"/>
            <a:ext cx="38404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Face recognition assists officers on child-protection cases only — it is not a surveillance capability.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Sources: aarakshak.com; server/src/match.js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WORKING PORTAL — ACTUAL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Command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12</a:t>
            </a:r>
          </a:p>
        </p:txBody>
      </p:sp>
      <p:pic>
        <p:nvPicPr>
          <p:cNvPr id="7" name="Picture 6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58368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78240" y="1417320"/>
            <a:ext cx="26517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0" y="1417320"/>
            <a:ext cx="73152" cy="228600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563624"/>
            <a:ext cx="224027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What this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920240"/>
            <a:ext cx="2240279" cy="1691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66373"/>
                </a:solidFill>
                <a:latin typeface="Aptos"/>
              </a:rPr>
              <a:t>Role-scoped caseload, reunification, pending matches, readiness and follow-up alerts for command and district users.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3931920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566373"/>
                </a:solidFill>
                <a:latin typeface="Aptos"/>
              </a:rPr>
              <a:t>docs/screenshots/overview.png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Captured from the running Khozo portal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WORKING PORTAL — ACTUAL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Case and Intake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13</a:t>
            </a:r>
          </a:p>
        </p:txBody>
      </p:sp>
      <p:pic>
        <p:nvPicPr>
          <p:cNvPr id="7" name="Picture 6" descr="cases-f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58368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78240" y="1417320"/>
            <a:ext cx="26517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0" y="1417320"/>
            <a:ext cx="73152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563624"/>
            <a:ext cx="224027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What this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920240"/>
            <a:ext cx="2240279" cy="1691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66373"/>
                </a:solidFill>
                <a:latin typeface="Aptos"/>
              </a:rPr>
              <a:t>Operational case list with missing-child intake, verification and FIR/GD registration workflows.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3931920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566373"/>
                </a:solidFill>
                <a:latin typeface="Aptos"/>
              </a:rPr>
              <a:t>docs/screenshots/cases-firs.png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Captured from the running Khozo portal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WORKING PORTAL — ACTUAL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CCI Institutional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14</a:t>
            </a:r>
          </a:p>
        </p:txBody>
      </p:sp>
      <p:pic>
        <p:nvPicPr>
          <p:cNvPr id="7" name="Picture 6" descr="cci-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58368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78240" y="1417320"/>
            <a:ext cx="26517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0" y="1417320"/>
            <a:ext cx="73152" cy="228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563624"/>
            <a:ext cx="224027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What this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920240"/>
            <a:ext cx="2240279" cy="1691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66373"/>
                </a:solidFill>
                <a:latin typeface="Aptos"/>
              </a:rPr>
              <a:t>Admissions, active children, admission-type split and review-due status across Child Care Institutions.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3931920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566373"/>
                </a:solidFill>
                <a:latin typeface="Aptos"/>
              </a:rPr>
              <a:t>docs/screenshots/cci-register.png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Captured from the running Khozo portal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WORKING PORTAL — ACTUAL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Privacy and Retention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15</a:t>
            </a:r>
          </a:p>
        </p:txBody>
      </p:sp>
      <p:pic>
        <p:nvPicPr>
          <p:cNvPr id="7" name="Picture 6" descr="privacy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58368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78240" y="1417320"/>
            <a:ext cx="26517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0" y="1417320"/>
            <a:ext cx="73152" cy="228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563624"/>
            <a:ext cx="224027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What this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920240"/>
            <a:ext cx="2240279" cy="1691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66373"/>
                </a:solidFill>
                <a:latin typeface="Aptos"/>
              </a:rPr>
              <a:t>Retention status, review, extension and approved anonymisation for case and sighting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3931920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566373"/>
                </a:solidFill>
                <a:latin typeface="Aptos"/>
              </a:rPr>
              <a:t>docs/screenshots/privacy-review.png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Captured from the running Khozo portal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WORKING PORTAL — ACTUAL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Signed MIS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16</a:t>
            </a:r>
          </a:p>
        </p:txBody>
      </p:sp>
      <p:pic>
        <p:nvPicPr>
          <p:cNvPr id="7" name="Picture 6" descr="mis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58368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78240" y="1417320"/>
            <a:ext cx="26517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0" y="1417320"/>
            <a:ext cx="73152" cy="2286000"/>
          </a:xfrm>
          <a:prstGeom prst="rect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563624"/>
            <a:ext cx="224027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What this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920240"/>
            <a:ext cx="2240279" cy="1691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66373"/>
                </a:solidFill>
                <a:latin typeface="Aptos"/>
              </a:rPr>
              <a:t>Scoped MIS artifact with district breakdowns, compliance counts and a verifiable signature.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3931920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566373"/>
                </a:solidFill>
                <a:latin typeface="Aptos"/>
              </a:rPr>
              <a:t>docs/screenshots/mis-report.png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Captured from the running Khozo portal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WORKING PORTAL — ACTUAL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Audit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17</a:t>
            </a:r>
          </a:p>
        </p:txBody>
      </p:sp>
      <p:pic>
        <p:nvPicPr>
          <p:cNvPr id="7" name="Picture 6" descr="audit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58368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78240" y="1417320"/>
            <a:ext cx="26517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0" y="1417320"/>
            <a:ext cx="73152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563624"/>
            <a:ext cx="224027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What this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920240"/>
            <a:ext cx="2240279" cy="1691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66373"/>
                </a:solidFill>
                <a:latin typeface="Aptos"/>
              </a:rPr>
              <a:t>Hash-chained audit events with integrity verification and signed export for evidence handling.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3931920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566373"/>
                </a:solidFill>
                <a:latin typeface="Aptos"/>
              </a:rPr>
              <a:t>docs/screenshots/audit-log.png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Captured from the running Khozo portal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HONEST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Where the Platform Stands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53312"/>
            <a:ext cx="10424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We wish to be candid with the Department about maturity, so that any pilot is planned on accurate 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47088"/>
            <a:ext cx="5230368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47088"/>
            <a:ext cx="73152" cy="214884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93392"/>
            <a:ext cx="48188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Working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50008"/>
            <a:ext cx="4818888" cy="1554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End-to-end citizen intake, verification, sighting review and referral. All stakeholder roles with scoped dashboards. Statutory and welfare records. Privacy, retention and anonymisation controls. Tamper-evident audit with signed exports. Grievances, bulletins, public directory and offline field capture.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47088"/>
            <a:ext cx="5230368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47088"/>
            <a:ext cx="73152" cy="2148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48188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To be completed before live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50008"/>
            <a:ext cx="4818888" cy="1554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Production database in place of the demonstration store. Authorised face recognition connected via Aarakshak. Live SMS gateway for OTP and parent alerts. Government-grade hosting, security audit and key management. Full automated test coverage and operational support.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105156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1C2530"/>
                </a:solidFill>
                <a:latin typeface="Aptos"/>
              </a:rPr>
              <a:t>Khozo is a fully demonstrable, end-to-end prototype developed by faculty and student teams at Aegis School of Data Science &amp; AI. It is offered to the Government in the spirit of public service. We seek the Department's direction on a supervised district pilot to validate it against real operational conditions before any wider deployment.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4E8019"/>
                </a:solidFill>
                <a:latin typeface="Aptos"/>
              </a:rPr>
              <a:t>No live child data has been used in development. All demonstration records are synthetic.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docs/system-audit.md, docs/session-handoff.md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Proposed Maharashtra 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99616"/>
            <a:ext cx="8229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67A426"/>
                </a:solidFill>
                <a:latin typeface="Aptos"/>
              </a:rPr>
              <a:t>Phase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1371600"/>
            <a:ext cx="78181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1371600"/>
            <a:ext cx="73152" cy="896112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517904"/>
            <a:ext cx="74066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Approval and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874519"/>
            <a:ext cx="7406640" cy="3017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566373"/>
                </a:solidFill>
                <a:latin typeface="Aptos"/>
              </a:rPr>
              <a:t>Department nominates the State Nodal Officer and pilot districts; SOPs agreed for verification, referral, data sharing and escalation.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1682496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50" b="1">
                <a:solidFill>
                  <a:srgbClr val="566373"/>
                </a:solidFill>
                <a:latin typeface="Aptos"/>
              </a:rPr>
              <a:t>4–6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0048"/>
            <a:ext cx="8229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67A426"/>
                </a:solidFill>
                <a:latin typeface="Aptos"/>
              </a:rPr>
              <a:t>Phase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2542032"/>
            <a:ext cx="78181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91640" y="2542032"/>
            <a:ext cx="73152" cy="8961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688336"/>
            <a:ext cx="74066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Onboarding and hardening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044952"/>
            <a:ext cx="7406640" cy="3017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566373"/>
                </a:solidFill>
                <a:latin typeface="Aptos"/>
              </a:rPr>
              <a:t>Provision CWC, DCPU, CCI, JJB, SJPU and police desks; production database, hosting, security review and SMS gateway put in place.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852928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50" b="1">
                <a:solidFill>
                  <a:srgbClr val="566373"/>
                </a:solidFill>
                <a:latin typeface="Aptos"/>
              </a:rPr>
              <a:t>6–8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40480"/>
            <a:ext cx="8229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67A426"/>
                </a:solidFill>
                <a:latin typeface="Aptos"/>
              </a:rPr>
              <a:t>Phase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91640" y="3712464"/>
            <a:ext cx="78181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91640" y="3712464"/>
            <a:ext cx="73152" cy="89611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3858768"/>
            <a:ext cx="74066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Supervised district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215384"/>
            <a:ext cx="7406640" cy="3017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566373"/>
                </a:solidFill>
                <a:latin typeface="Aptos"/>
              </a:rPr>
              <a:t>Live use in the selected districts with citizen and NGO participation, weekly review with DCPU and the State Nodal Officer.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402336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50" b="1">
                <a:solidFill>
                  <a:srgbClr val="566373"/>
                </a:solidFill>
                <a:latin typeface="Aptos"/>
              </a:rPr>
              <a:t>3–4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10912"/>
            <a:ext cx="8229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67A426"/>
                </a:solidFill>
                <a:latin typeface="Aptos"/>
              </a:rPr>
              <a:t>Phase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91640" y="4882896"/>
            <a:ext cx="78181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91640" y="4882896"/>
            <a:ext cx="73152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5029200"/>
            <a:ext cx="74066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Evaluation and scale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385816"/>
            <a:ext cx="7406640" cy="3017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566373"/>
                </a:solidFill>
                <a:latin typeface="Aptos"/>
              </a:rPr>
              <a:t>Measure verification time, referral closure, production compliance and restoration outcomes; Department decides on wider rollout.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5193792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50" b="1">
                <a:solidFill>
                  <a:srgbClr val="566373"/>
                </a:solidFill>
                <a:latin typeface="Aptos"/>
              </a:rPr>
              <a:t>4–6 weeks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126480"/>
            <a:ext cx="105156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4E8019"/>
                </a:solidFill>
                <a:latin typeface="Aptos"/>
              </a:rPr>
              <a:t>Indicative timeline, offered for the Department's revision. Aegis will bear platform development and support costs for the pilot period.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OUR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9326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What We Seek from the Department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to WCD, Government of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71600"/>
            <a:ext cx="104241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1C2530"/>
                </a:solidFill>
                <a:latin typeface="Aptos"/>
              </a:rPr>
              <a:t>We are not seeking funds. We seek direction, supervision and the authority to be useful.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401568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73152" cy="173736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0370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1. Guidance on a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2990088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566373"/>
                </a:solidFill>
                <a:latin typeface="Aptos"/>
              </a:rPr>
              <a:t>Nominate one or two districts and a nodal officer under whose supervision Khozo can be validated in real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57400"/>
            <a:ext cx="3401568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205740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20370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2. Workflow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560320"/>
            <a:ext cx="2990088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566373"/>
                </a:solidFill>
                <a:latin typeface="Aptos"/>
              </a:rPr>
              <a:t>Allow CWC, DCPU and CCI officers to review whether the workflows and records match how the Department actually works.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057400"/>
            <a:ext cx="3401568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2057400"/>
            <a:ext cx="73152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203704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3. Integration 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560320"/>
            <a:ext cx="2990088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566373"/>
                </a:solidFill>
                <a:latin typeface="Aptos"/>
              </a:rPr>
              <a:t>Advise on alignment with Mission Vatsalya and TrackChild, and on authorisation for face recognition.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1051560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4E8019"/>
                </a:solidFill>
                <a:latin typeface="Aptos"/>
              </a:rPr>
              <a:t>With the Department's guidance, a student-built public-good platform can become a supervised State capability — one that shortens the time between a citizen's photograph and a child's safe return home.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50" b="0">
                <a:solidFill>
                  <a:srgbClr val="566373"/>
                </a:solidFill>
                <a:latin typeface="Aptos"/>
              </a:rPr>
              <a:t>We would be glad to demonstrate the working system to the Department at any date convenient to the Hon'ble Minister's office.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40880" y="0"/>
            <a:ext cx="5150815" cy="6858000"/>
          </a:xfrm>
          <a:prstGeom prst="rect">
            <a:avLst/>
          </a:prstGeom>
          <a:solidFill>
            <a:srgbClr val="1C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97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KHOZO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594360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Let every safe sighting become an accountable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127248"/>
            <a:ext cx="557784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EAF4DD"/>
                </a:solidFill>
                <a:latin typeface="Aptos"/>
              </a:rPr>
              <a:t>A proposal to the Department of Women and Child Development, Government of Maharashtra, for a supervised, privacy-safe, Mission Vatsalya-aligned child-protection pilot.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4160520"/>
            <a:ext cx="2670048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4160520"/>
            <a:ext cx="731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4306824"/>
            <a:ext cx="225856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663440"/>
            <a:ext cx="2258568" cy="45719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66373"/>
                </a:solidFill>
                <a:latin typeface="Aptos"/>
              </a:rPr>
              <a:t>Guidance on a supervised district pilot and a nodal officer.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4160520"/>
            <a:ext cx="2670048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4160520"/>
            <a:ext cx="731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4306824"/>
            <a:ext cx="225856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Offered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4663440"/>
            <a:ext cx="2258568" cy="45719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66373"/>
                </a:solidFill>
                <a:latin typeface="Aptos"/>
              </a:rPr>
              <a:t>Aegis School of Data Science &amp; AI, Mumbai — AI for Social Good.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577840"/>
            <a:ext cx="5577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EAF4DD"/>
                </a:solidFill>
                <a:latin typeface="Aptos"/>
              </a:rPr>
              <a:t>[Presenter name] | [Designation] | [Mobile] | [Email]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874519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Your 1 click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505456"/>
            <a:ext cx="32461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400" b="1">
                <a:solidFill>
                  <a:srgbClr val="EAF4DD"/>
                </a:solidFill>
                <a:latin typeface="Aptos"/>
              </a:rPr>
              <a:t>A missing child can return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5230368"/>
            <a:ext cx="36118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566373"/>
                </a:solidFill>
                <a:latin typeface="Aptos"/>
              </a:rPr>
              <a:t>An initiative by Aegis School of Data Science &amp;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